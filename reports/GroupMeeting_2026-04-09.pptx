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109728" y="0"/>
            <a:ext cx="12079224" cy="100584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E5C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2377440"/>
            <a:ext cx="112772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A2744"/>
                </a:solidFill>
                <a:latin typeface="Arial" panose="020B0604020202090204"/>
              </a:rPr>
              <a:t>TrpB MetaDynamics Benchmark — Weekly Progress Report</a:t>
            </a:r>
            <a:endParaRPr sz="3200" b="1" i="0">
              <a:solidFill>
                <a:srgbClr val="1A2744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626458" y="3749039"/>
            <a:ext cx="2938780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 i="0">
                <a:solidFill>
                  <a:srgbClr val="000000"/>
                </a:solidFill>
                <a:latin typeface="Arial" panose="020B0604020202090204"/>
              </a:rPr>
              <a:t>Zhenpeng Liu   2026-04-09</a:t>
            </a:r>
            <a:endParaRPr sz="1800" b="0" i="0">
              <a:solidFill>
                <a:srgbClr val="000000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Arial" panose="020B0604020202090204"/>
              </a:rPr>
              <a:t>Replicating Maria-Solano et al., JACS 2019, 141, 13049–13056</a:t>
            </a:r>
            <a:endParaRPr sz="1000" b="0" i="1">
              <a:solidFill>
                <a:srgbClr val="666666"/>
              </a:solidFill>
              <a:latin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201168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Arial" panose="020B0604020202090204"/>
              </a:rPr>
              <a:t>TrpB MetaD Benchmark  ·  1 / 10</a:t>
            </a:r>
            <a:endParaRPr sz="800" b="0" i="0">
              <a:solidFill>
                <a:srgbClr val="6B7280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109728" y="0"/>
            <a:ext cx="12079224" cy="100584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E5C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20040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 i="0">
                <a:solidFill>
                  <a:srgbClr val="1A2744"/>
                </a:solidFill>
                <a:latin typeface="Arial" panose="020B0604020202090204"/>
              </a:rPr>
              <a:t>Replicating JACS 2019 MetaDynamics on TrpB COMM domain as F1 conformational baseline</a:t>
            </a:r>
            <a:endParaRPr sz="2400" b="1" i="0">
              <a:solidFill>
                <a:srgbClr val="1A2744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77295" cy="5257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 panose="020B0604020202090204"/>
              </a:rPr>
              <a:t>•  Goal: benchmark FES for PfTrpS(Ain) O→PC→C transition</a:t>
            </a:r>
            <a:endParaRPr sz="1800" b="0" i="0">
              <a:solidFill>
                <a:srgbClr val="000000"/>
              </a:solidFill>
              <a:latin typeface="Arial" panose="020B0604020202090204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 panose="020B0604020202090204"/>
              </a:rPr>
              <a:t>•  Downstream: conformational reward for GenSLM + GRPO, ground truth for STAR-MD benchmark</a:t>
            </a:r>
            <a:endParaRPr sz="1800" b="0" i="0">
              <a:solidFill>
                <a:srgbClr val="000000"/>
              </a:solidFill>
              <a:latin typeface="Arial" panose="020B0604020202090204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Arial" panose="020B0604020202090204"/>
              </a:rPr>
              <a:t>•  Stage: initial single-walker MetaD run</a:t>
            </a:r>
            <a:endParaRPr sz="1800" b="0" i="0">
              <a:solidFill>
                <a:srgbClr val="000000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Arial" panose="020B0604020202090204"/>
              </a:rPr>
              <a:t>Maria-Solano et al., JACS 2019  |  SI protocol: 10 walkers × 50–100 ns after initial run</a:t>
            </a:r>
            <a:endParaRPr sz="1000" b="0" i="1">
              <a:solidFill>
                <a:srgbClr val="666666"/>
              </a:solidFill>
              <a:latin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201168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Arial" panose="020B0604020202090204"/>
              </a:rPr>
              <a:t>TrpB MetaD Benchmark  ·  2 / 10</a:t>
            </a:r>
            <a:endParaRPr sz="800" b="0" i="0">
              <a:solidFill>
                <a:srgbClr val="6B7280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Rectangle 7"/>
          <p:cNvSpPr/>
          <p:nvPr/>
        </p:nvSpPr>
        <p:spPr>
          <a:xfrm>
            <a:off x="109728" y="0"/>
            <a:ext cx="12079224" cy="100584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E5C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20040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 i="0">
                <a:solidFill>
                  <a:srgbClr val="1A2744"/>
                </a:solidFill>
                <a:latin typeface="Arial" panose="020B0604020202090204"/>
              </a:rPr>
              <a:t>Last week: system preparation and MetaDynamics submission completed</a:t>
            </a:r>
            <a:endParaRPr sz="2400" b="1" i="0">
              <a:solidFill>
                <a:srgbClr val="1A2744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77295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Arial" panose="020B0604020202090204"/>
              </a:rPr>
              <a:t>•  500 ns conventional MD completed (Job 40806029, 71.5 hrs)</a:t>
            </a:r>
            <a:endParaRPr sz="1700" b="0" i="0">
              <a:solidFill>
                <a:srgbClr val="000000"/>
              </a:solidFill>
              <a:latin typeface="Arial" panose="020B0604020202090204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Arial" panose="020B0604020202090204"/>
              </a:rPr>
              <a:t>•  AMBER → GROMACS format conversion (ParmEd, 39268 atoms)</a:t>
            </a:r>
            <a:endParaRPr sz="1700" b="0" i="0">
              <a:solidFill>
                <a:srgbClr val="000000"/>
              </a:solidFill>
              <a:latin typeface="Arial" panose="020B0604020202090204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Arial" panose="020B0604020202090204"/>
              </a:rPr>
              <a:t>•  PLUMED 2.9.2 compiled from source (conda version had broken libplumedKernel.so)</a:t>
            </a:r>
            <a:endParaRPr sz="1700" b="0" i="0">
              <a:solidFill>
                <a:srgbClr val="000000"/>
              </a:solidFill>
              <a:latin typeface="Arial" panose="020B0604020202090204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Arial" panose="020B0604020202090204"/>
              </a:rPr>
              <a:t>•  Single-walker MetaD submitted (Job 41514529, FUNCPATHMSD + ADAPTIVE=GEOM)</a:t>
            </a:r>
            <a:endParaRPr sz="1700" b="0" i="0">
              <a:solidFill>
                <a:srgbClr val="000000"/>
              </a:solidFill>
              <a:latin typeface="Arial" panose="020B060402020209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5074920"/>
            <a:ext cx="11277295" cy="123444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5184648"/>
            <a:ext cx="11057839" cy="1014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gmx mdrun -deffnm metad -plumed plumed.dat -ntmpi 1 -ntomp 8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Arial" panose="020B0604020202090204"/>
              </a:rPr>
              <a:t>replication/metadynamics/single_walker/submit.sh</a:t>
            </a:r>
            <a:endParaRPr sz="1000" b="0" i="1">
              <a:solidFill>
                <a:srgbClr val="666666"/>
              </a:solidFill>
              <a:latin typeface="Arial" panose="020B060402020209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201168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Arial" panose="020B0604020202090204"/>
              </a:rPr>
              <a:t>TrpB MetaD Benchmark  ·  3 / 10</a:t>
            </a:r>
            <a:endParaRPr sz="800" b="0" i="0">
              <a:solidFill>
                <a:srgbClr val="6B7280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Rectangle 7"/>
          <p:cNvSpPr/>
          <p:nvPr/>
        </p:nvSpPr>
        <p:spPr>
          <a:xfrm>
            <a:off x="109728" y="0"/>
            <a:ext cx="12079224" cy="100584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E5C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20040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 i="0">
                <a:solidFill>
                  <a:srgbClr val="1A2744"/>
                </a:solidFill>
                <a:latin typeface="Arial" panose="020B0604020202090204"/>
              </a:rPr>
              <a:t>Job 41514529 ran 46.3 ns but s(R) was confined to [7.77, 7.83] — no exploration</a:t>
            </a:r>
            <a:endParaRPr sz="2400" b="1" i="0">
              <a:solidFill>
                <a:srgbClr val="1A2744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Arial" panose="020B0604020202090204"/>
              </a:rPr>
              <a:t>•  Walltime kill at 72h, reached 46.3 of 50 ns</a:t>
            </a:r>
            <a:endParaRPr sz="1500" b="0" i="0">
              <a:solidFill>
                <a:srgbClr val="000000"/>
              </a:solidFill>
              <a:latin typeface="Arial" panose="020B0604020202090204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Arial" panose="020B0604020202090204"/>
              </a:rPr>
              <a:t>•  COLVAR: 100% of frames in PC region (s=5–10), 0% in O or C</a:t>
            </a:r>
            <a:endParaRPr sz="1500" b="0" i="0">
              <a:solidFill>
                <a:srgbClr val="000000"/>
              </a:solidFill>
              <a:latin typeface="Arial" panose="020B0604020202090204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Arial" panose="020B0604020202090204"/>
              </a:rPr>
              <a:t>•  Bias accumulated to 61.7 kJ/mol but system never moved</a:t>
            </a:r>
            <a:endParaRPr sz="1500" b="0" i="0">
              <a:solidFill>
                <a:srgbClr val="000000"/>
              </a:solidFill>
              <a:latin typeface="Arial" panose="020B0604020202090204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DC2626"/>
                </a:solidFill>
                <a:latin typeface="Arial" panose="020B0604020202090204"/>
              </a:rPr>
              <a:t>•  Initial diagnosis: “system stuck in PC basin” — THIS WAS WRONG</a:t>
            </a:r>
            <a:endParaRPr sz="1500" b="1" i="0">
              <a:solidFill>
                <a:srgbClr val="DC2626"/>
              </a:solidFill>
              <a:latin typeface="Arial" panose="020B060402020209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3886200"/>
            <a:ext cx="11277295" cy="25146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3995928"/>
            <a:ext cx="11057839" cy="2295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# COLVAR analysis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python3 -c "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import numpy as np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d = np.loadtxt('COLVAR', comments='#')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s = d[:,1]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print(f'O(s&lt;5): {(s&lt;5).sum()}'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      f' PC(5-10): {((s&gt;5)&amp;(s&lt;10)).sum()}'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      f' C(s&gt;10): {(s&gt;10).sum()}')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"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# Output: O: 0  PC: 46304  C: 0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Arial" panose="020B0604020202090204"/>
              </a:rPr>
              <a:t>Job 41514529 on Longleaf c130604  |  single_walker/COLVAR</a:t>
            </a:r>
            <a:endParaRPr sz="1000" b="0" i="1">
              <a:solidFill>
                <a:srgbClr val="666666"/>
              </a:solidFill>
              <a:latin typeface="Arial" panose="020B060402020209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201168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Arial" panose="020B0604020202090204"/>
              </a:rPr>
              <a:t>TrpB MetaD Benchmark  ·  4 / 10</a:t>
            </a:r>
            <a:endParaRPr sz="800" b="0" i="0">
              <a:solidFill>
                <a:srgbClr val="6B7280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Rectangle 8"/>
          <p:cNvSpPr/>
          <p:nvPr/>
        </p:nvSpPr>
        <p:spPr>
          <a:xfrm>
            <a:off x="109728" y="0"/>
            <a:ext cx="12079224" cy="100584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E5C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20040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1A2744"/>
                </a:solidFill>
                <a:latin typeface="Arial" panose="020B0604020202090204"/>
              </a:rPr>
              <a:t>Flashback to last week: we switched PATHMSD → FUNCPATHMSD on a guess, and kept the old LAMBDA</a:t>
            </a:r>
            <a:endParaRPr sz="2000" b="1" i="0">
              <a:solidFill>
                <a:srgbClr val="1A2744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77295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Arial" panose="020B0604020202090204"/>
              </a:rPr>
              <a:t>•  SI just says "path collective variables" — action + LAMBDA value not specified</a:t>
            </a:r>
            <a:endParaRPr sz="1400" b="0" i="0">
              <a:solidFill>
                <a:srgbClr val="000000"/>
              </a:solidFill>
              <a:latin typeface="Arial" panose="020B0604020202090204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Arial" panose="020B0604020202090204"/>
              </a:rPr>
              <a:t>•  Last week we first tried PATHMSD; got a PLUMED crash (later: conda .so bug + trailing END, see Slide 9)</a:t>
            </a:r>
            <a:endParaRPr sz="1400" b="0" i="0">
              <a:solidFill>
                <a:srgbClr val="000000"/>
              </a:solidFill>
              <a:latin typeface="Arial" panose="020B0604020202090204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Arial" panose="020B0604020202090204"/>
              </a:rPr>
              <a:t>•  At the time we blamed PATHMSD on non-sequential atom serials and switched to FUNCPATHMSD — without verifying in the docs</a:t>
            </a:r>
            <a:endParaRPr sz="1400" b="0" i="0">
              <a:solidFill>
                <a:srgbClr val="000000"/>
              </a:solidFill>
              <a:latin typeface="Arial" panose="020B0604020202090204"/>
            </a:endParaRP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Arial" panose="020B0604020202090204"/>
              </a:rPr>
              <a:t>•  KEPT the old LAMBDA=3.391 nm⁻² from generate_path_cv.py → silent convention mismatch, discovered this week</a:t>
            </a:r>
            <a:endParaRPr sz="1400" b="0" i="0">
              <a:solidFill>
                <a:srgbClr val="000000"/>
              </a:solidFill>
              <a:latin typeface="Arial" panose="020B060402020209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3931920"/>
            <a:ext cx="11277295" cy="173736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4041648"/>
            <a:ext cx="11057839" cy="1517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r1: RMSD REFERENCE=frames/frame_01.pdb TYPE=OPTIMAL  # &lt;- missing SQUARED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...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path: FUNCPATHMSD ARG=r1,...,r15 LAMBDA=3.3910        # &lt;- wrong by 112x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361188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Arial" panose="020B0604020202090204"/>
              </a:rPr>
              <a:t>Old (broken) plumed.dat excerpt:</a:t>
            </a:r>
            <a:endParaRPr sz="1200" b="0" i="1">
              <a:solidFill>
                <a:srgbClr val="666666"/>
              </a:solidFill>
              <a:latin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Arial" panose="020B0604020202090204"/>
              </a:rPr>
              <a:t>SI S3: "path collective variables" (no input file, no LAMBDA value)  |  decision recorded as FP-020 last week  |  re-diagnosed this week (see Slide 9)</a:t>
            </a:r>
            <a:endParaRPr sz="1000" b="0" i="1">
              <a:solidFill>
                <a:srgbClr val="666666"/>
              </a:solidFill>
              <a:latin typeface="Arial" panose="020B060402020209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58400" y="6400800"/>
            <a:ext cx="201168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Arial" panose="020B0604020202090204"/>
              </a:rPr>
              <a:t>TrpB MetaD Benchmark  ·  5 / 10</a:t>
            </a:r>
            <a:endParaRPr sz="800" b="0" i="0">
              <a:solidFill>
                <a:srgbClr val="6B7280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Rectangle 8"/>
          <p:cNvSpPr/>
          <p:nvPr/>
        </p:nvSpPr>
        <p:spPr>
          <a:xfrm>
            <a:off x="109728" y="0"/>
            <a:ext cx="12079224" cy="100584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E5C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20040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 i="0">
                <a:solidFill>
                  <a:srgbClr val="1A2744"/>
                </a:solidFill>
                <a:latin typeface="Arial" panose="020B0604020202090204"/>
              </a:rPr>
              <a:t>Reference frames don’t map to their own index: frame_01 → s=4.02 instead of s=1</a:t>
            </a:r>
            <a:endParaRPr sz="2400" b="1" i="0">
              <a:solidFill>
                <a:srgbClr val="1A2744"/>
              </a:solidFill>
              <a:latin typeface="Arial" panose="020B0604020202090204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34440"/>
          <a:ext cx="7772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828800"/>
                <a:gridCol w="2194560"/>
                <a:gridCol w="2103120"/>
              </a:tblGrid>
              <a:tr h="434340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 panose="020B0604020202090204"/>
                        </a:rPr>
                        <a:t>Frame</a:t>
                      </a:r>
                      <a:endParaRPr sz="1300" b="1" i="0">
                        <a:solidFill>
                          <a:srgbClr val="FFFFFF"/>
                        </a:solidFill>
                        <a:latin typeface="Arial" panose="020B0604020202090204"/>
                      </a:endParaRPr>
                    </a:p>
                  </a:txBody>
                  <a:tcPr marL="73152" marR="73152" marT="36576" marB="36576">
                    <a:solidFill>
                      <a:srgbClr val="1A27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 panose="020B0604020202090204"/>
                        </a:rPr>
                        <a:t>Expected s</a:t>
                      </a:r>
                      <a:endParaRPr sz="1300" b="1" i="0">
                        <a:solidFill>
                          <a:srgbClr val="FFFFFF"/>
                        </a:solidFill>
                        <a:latin typeface="Arial" panose="020B0604020202090204"/>
                      </a:endParaRPr>
                    </a:p>
                  </a:txBody>
                  <a:tcPr marL="73152" marR="73152" marT="36576" marB="36576">
                    <a:solidFill>
                      <a:srgbClr val="1A27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 panose="020B0604020202090204"/>
                        </a:rPr>
                        <a:t>Actual s (broken)</a:t>
                      </a:r>
                      <a:endParaRPr sz="1300" b="1" i="0">
                        <a:solidFill>
                          <a:srgbClr val="FFFFFF"/>
                        </a:solidFill>
                        <a:latin typeface="Arial" panose="020B0604020202090204"/>
                      </a:endParaRPr>
                    </a:p>
                  </a:txBody>
                  <a:tcPr marL="73152" marR="73152" marT="36576" marB="36576">
                    <a:solidFill>
                      <a:srgbClr val="1A27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 panose="020B0604020202090204"/>
                        </a:rPr>
                        <a:t>Actual s (fixed)</a:t>
                      </a:r>
                      <a:endParaRPr sz="1300" b="1" i="0">
                        <a:solidFill>
                          <a:srgbClr val="FFFFFF"/>
                        </a:solidFill>
                        <a:latin typeface="Arial" panose="020B0604020202090204"/>
                      </a:endParaRPr>
                    </a:p>
                  </a:txBody>
                  <a:tcPr marL="73152" marR="73152" marT="36576" marB="36576">
                    <a:solidFill>
                      <a:srgbClr val="1A2744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90204"/>
                        </a:rPr>
                        <a:t>frame_01</a:t>
                      </a:r>
                      <a:endParaRPr sz="1200" b="0" i="0">
                        <a:solidFill>
                          <a:srgbClr val="000000"/>
                        </a:solidFill>
                        <a:latin typeface="Arial" panose="020B0604020202090204"/>
                      </a:endParaRP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90204"/>
                        </a:rPr>
                        <a:t>1.00</a:t>
                      </a:r>
                      <a:endParaRPr sz="1200" b="0" i="0">
                        <a:solidFill>
                          <a:srgbClr val="000000"/>
                        </a:solidFill>
                        <a:latin typeface="Arial" panose="020B0604020202090204"/>
                      </a:endParaRP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DC2626"/>
                          </a:solidFill>
                          <a:latin typeface="Arial" panose="020B0604020202090204"/>
                        </a:rPr>
                        <a:t>4.02</a:t>
                      </a:r>
                      <a:endParaRPr sz="1200" b="1" i="0">
                        <a:solidFill>
                          <a:srgbClr val="DC2626"/>
                        </a:solidFill>
                        <a:latin typeface="Arial" panose="020B0604020202090204"/>
                      </a:endParaRP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90204"/>
                        </a:rPr>
                        <a:t>1.09</a:t>
                      </a:r>
                      <a:endParaRPr sz="1200" b="0" i="0">
                        <a:solidFill>
                          <a:srgbClr val="000000"/>
                        </a:solidFill>
                        <a:latin typeface="Arial" panose="020B0604020202090204"/>
                      </a:endParaRP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90204"/>
                        </a:rPr>
                        <a:t>frame_08</a:t>
                      </a:r>
                      <a:endParaRPr sz="1200" b="0" i="0">
                        <a:solidFill>
                          <a:srgbClr val="000000"/>
                        </a:solidFill>
                        <a:latin typeface="Arial" panose="020B0604020202090204"/>
                      </a:endParaRP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90204"/>
                        </a:rPr>
                        <a:t>8.00</a:t>
                      </a:r>
                      <a:endParaRPr sz="1200" b="0" i="0">
                        <a:solidFill>
                          <a:srgbClr val="000000"/>
                        </a:solidFill>
                        <a:latin typeface="Arial" panose="020B0604020202090204"/>
                      </a:endParaRP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90204"/>
                        </a:rPr>
                        <a:t>8.00</a:t>
                      </a:r>
                      <a:endParaRPr sz="1200" b="0" i="0">
                        <a:solidFill>
                          <a:srgbClr val="000000"/>
                        </a:solidFill>
                        <a:latin typeface="Arial" panose="020B0604020202090204"/>
                      </a:endParaRP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90204"/>
                        </a:rPr>
                        <a:t>8.00</a:t>
                      </a:r>
                      <a:endParaRPr sz="1200" b="0" i="0">
                        <a:solidFill>
                          <a:srgbClr val="000000"/>
                        </a:solidFill>
                        <a:latin typeface="Arial" panose="020B0604020202090204"/>
                      </a:endParaRP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90204"/>
                        </a:rPr>
                        <a:t>frame_15</a:t>
                      </a:r>
                      <a:endParaRPr sz="1200" b="0" i="0">
                        <a:solidFill>
                          <a:srgbClr val="000000"/>
                        </a:solidFill>
                        <a:latin typeface="Arial" panose="020B0604020202090204"/>
                      </a:endParaRP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90204"/>
                        </a:rPr>
                        <a:t>15.00</a:t>
                      </a:r>
                      <a:endParaRPr sz="1200" b="0" i="0">
                        <a:solidFill>
                          <a:srgbClr val="000000"/>
                        </a:solidFill>
                        <a:latin typeface="Arial" panose="020B0604020202090204"/>
                      </a:endParaRP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DC2626"/>
                          </a:solidFill>
                          <a:latin typeface="Arial" panose="020B0604020202090204"/>
                        </a:rPr>
                        <a:t>11.98</a:t>
                      </a:r>
                      <a:endParaRPr sz="1200" b="1" i="0">
                        <a:solidFill>
                          <a:srgbClr val="DC2626"/>
                        </a:solidFill>
                        <a:latin typeface="Arial" panose="020B0604020202090204"/>
                      </a:endParaRP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90204"/>
                        </a:rPr>
                        <a:t>14.91</a:t>
                      </a:r>
                      <a:endParaRPr sz="1200" b="0" i="0">
                        <a:solidFill>
                          <a:srgbClr val="000000"/>
                        </a:solidFill>
                        <a:latin typeface="Arial" panose="020B0604020202090204"/>
                      </a:endParaRP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154680"/>
            <a:ext cx="1127729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1">
                <a:solidFill>
                  <a:srgbClr val="DC2626"/>
                </a:solidFill>
                <a:latin typeface="Arial" panose="020B0604020202090204"/>
              </a:rPr>
              <a:t>If the CV can’t recognize its own reference frames, the entire FES is meaningless.</a:t>
            </a:r>
            <a:endParaRPr sz="1400" b="1" i="1">
              <a:solidFill>
                <a:srgbClr val="DC2626"/>
              </a:solidFill>
              <a:latin typeface="Arial" panose="020B060402020209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3794760"/>
            <a:ext cx="11277295" cy="17830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3904488"/>
            <a:ext cx="11057839" cy="1563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# Self-consistency test (30 sec, catches 3-day HPC bugs)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python3 01_self_consistency_test.py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# Loads 15 frames, computes s(frame_i) for each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# Asserts s(frame_01) ~= 1, s(frame_15) ~= 15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Arial" panose="020B0604020202090204"/>
              </a:rPr>
              <a:t>replication/validations/path_cv_debug_2026-04-08/01_self_consistency_test.py</a:t>
            </a:r>
            <a:endParaRPr sz="1000" b="0" i="1">
              <a:solidFill>
                <a:srgbClr val="666666"/>
              </a:solidFill>
              <a:latin typeface="Arial" panose="020B060402020209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58400" y="6400800"/>
            <a:ext cx="201168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Arial" panose="020B0604020202090204"/>
              </a:rPr>
              <a:t>TrpB MetaD Benchmark  ·  6 / 10</a:t>
            </a:r>
            <a:endParaRPr sz="800" b="0" i="0">
              <a:solidFill>
                <a:srgbClr val="6B7280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Rectangle 10"/>
          <p:cNvSpPr/>
          <p:nvPr/>
        </p:nvSpPr>
        <p:spPr>
          <a:xfrm>
            <a:off x="109728" y="0"/>
            <a:ext cx="12079224" cy="100584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E5C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20040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1A2744"/>
                </a:solidFill>
                <a:latin typeface="Arial" panose="020B0604020202090204"/>
              </a:rPr>
              <a:t>Root cause: last week's generate_path_cv.py computed LAMBDA from total SD, not per-atom MSD (112× off)</a:t>
            </a:r>
            <a:endParaRPr sz="2000" b="1" i="0">
              <a:solidFill>
                <a:srgbClr val="1A2744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577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2744"/>
                </a:solidFill>
                <a:latin typeface="Arial" panose="020B0604020202090204"/>
              </a:rPr>
              <a:t>Formula</a:t>
            </a:r>
            <a:endParaRPr sz="1400" b="1" i="0">
              <a:solidFill>
                <a:srgbClr val="1A2744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557784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000000"/>
                </a:solidFill>
                <a:latin typeface="Arial" panose="020B0604020202090204"/>
              </a:rPr>
              <a:t>λ = 2.3 / MSD_adjacent</a:t>
            </a:r>
            <a:endParaRPr sz="1300" b="1" i="0">
              <a:solidFill>
                <a:srgbClr val="000000"/>
              </a:solidFill>
              <a:latin typeface="Arial" panose="020B0604020202090204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1">
                <a:solidFill>
                  <a:srgbClr val="666666"/>
                </a:solidFill>
                <a:latin typeface="Arial" panose="020B0604020202090204"/>
              </a:rPr>
              <a:t>Our script:</a:t>
            </a:r>
            <a:endParaRPr sz="1200" b="0" i="1">
              <a:solidFill>
                <a:srgbClr val="666666"/>
              </a:solidFill>
              <a:latin typeface="Arial" panose="020B0604020202090204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000000"/>
                </a:solidFill>
                <a:latin typeface="Arial" panose="020B0604020202090204"/>
              </a:rPr>
              <a:t>  MSD = Σ|Δr|² = 0.678 nm² (total sum)</a:t>
            </a:r>
            <a:endParaRPr sz="1200" b="0" i="0">
              <a:solidFill>
                <a:srgbClr val="000000"/>
              </a:solidFill>
              <a:latin typeface="Arial" panose="020B0604020202090204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 i="0">
                <a:solidFill>
                  <a:srgbClr val="DC2626"/>
                </a:solidFill>
                <a:latin typeface="Arial" panose="020B0604020202090204"/>
              </a:rPr>
              <a:t>  → λ = 3.391 nm⁻²</a:t>
            </a:r>
            <a:endParaRPr sz="1200" b="1" i="0">
              <a:solidFill>
                <a:srgbClr val="DC2626"/>
              </a:solidFill>
              <a:latin typeface="Arial" panose="020B0604020202090204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1">
                <a:solidFill>
                  <a:srgbClr val="666666"/>
                </a:solidFill>
                <a:latin typeface="Arial" panose="020B0604020202090204"/>
              </a:rPr>
              <a:t>PLUMED expects:</a:t>
            </a:r>
            <a:endParaRPr sz="1200" b="0" i="1">
              <a:solidFill>
                <a:srgbClr val="666666"/>
              </a:solidFill>
              <a:latin typeface="Arial" panose="020B0604020202090204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000000"/>
                </a:solidFill>
                <a:latin typeface="Arial" panose="020B0604020202090204"/>
              </a:rPr>
              <a:t>  MSD = (1/N)Σ|Δr|² = 0.00606 nm² (per-atom mean)</a:t>
            </a:r>
            <a:endParaRPr sz="1200" b="0" i="0">
              <a:solidFill>
                <a:srgbClr val="000000"/>
              </a:solidFill>
              <a:latin typeface="Arial" panose="020B0604020202090204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 i="0">
                <a:solidFill>
                  <a:srgbClr val="1A2744"/>
                </a:solidFill>
                <a:latin typeface="Arial" panose="020B0604020202090204"/>
              </a:rPr>
              <a:t>  → λ = 379.77 nm⁻²</a:t>
            </a:r>
            <a:endParaRPr sz="1200" b="1" i="0">
              <a:solidFill>
                <a:srgbClr val="1A2744"/>
              </a:solidFill>
              <a:latin typeface="Arial" panose="020B0604020202090204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 i="0">
                <a:solidFill>
                  <a:srgbClr val="000000"/>
                </a:solidFill>
                <a:latin typeface="Arial" panose="020B0604020202090204"/>
              </a:rPr>
              <a:t>Ratio: 379.77 / 3.391 = 112 = N_atoms</a:t>
            </a:r>
            <a:endParaRPr sz="1200" b="1" i="0">
              <a:solidFill>
                <a:srgbClr val="000000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172200" y="1188720"/>
            <a:ext cx="5577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A2744"/>
                </a:solidFill>
                <a:latin typeface="Arial" panose="020B0604020202090204"/>
              </a:rPr>
              <a:t>Effect on adjacent-frame kernel weight</a:t>
            </a:r>
            <a:endParaRPr sz="1400" b="1" i="0">
              <a:solidFill>
                <a:srgbClr val="1A2744"/>
              </a:solidFill>
              <a:latin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172200" y="1508760"/>
            <a:ext cx="557784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1">
                <a:solidFill>
                  <a:srgbClr val="666666"/>
                </a:solidFill>
                <a:latin typeface="Arial" panose="020B0604020202090204"/>
              </a:rPr>
              <a:t>Broken λ:</a:t>
            </a:r>
            <a:endParaRPr sz="1200" b="0" i="1">
              <a:solidFill>
                <a:srgbClr val="666666"/>
              </a:solidFill>
              <a:latin typeface="Arial" panose="020B0604020202090204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 i="0">
                <a:solidFill>
                  <a:srgbClr val="DC2626"/>
                </a:solidFill>
                <a:latin typeface="Arial" panose="020B0604020202090204"/>
              </a:rPr>
              <a:t>  exp(−0.264) = 0.77</a:t>
            </a:r>
            <a:endParaRPr sz="1200" b="1" i="0">
              <a:solidFill>
                <a:srgbClr val="DC2626"/>
              </a:solidFill>
              <a:latin typeface="Arial" panose="020B0604020202090204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DC2626"/>
                </a:solidFill>
                <a:latin typeface="Arial" panose="020B0604020202090204"/>
              </a:rPr>
              <a:t>  → frames indistinguishable</a:t>
            </a:r>
            <a:endParaRPr sz="1200" b="0" i="0">
              <a:solidFill>
                <a:srgbClr val="DC2626"/>
              </a:solidFill>
              <a:latin typeface="Arial" panose="020B0604020202090204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1">
                <a:solidFill>
                  <a:srgbClr val="666666"/>
                </a:solidFill>
                <a:latin typeface="Arial" panose="020B0604020202090204"/>
              </a:rPr>
              <a:t>Correct λ:</a:t>
            </a:r>
            <a:endParaRPr sz="1200" b="0" i="1">
              <a:solidFill>
                <a:srgbClr val="666666"/>
              </a:solidFill>
              <a:latin typeface="Arial" panose="020B0604020202090204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 i="0">
                <a:solidFill>
                  <a:srgbClr val="1A2744"/>
                </a:solidFill>
                <a:latin typeface="Arial" panose="020B0604020202090204"/>
              </a:rPr>
              <a:t>  exp(−2.3) = 0.10</a:t>
            </a:r>
            <a:endParaRPr sz="1200" b="1" i="0">
              <a:solidFill>
                <a:srgbClr val="1A2744"/>
              </a:solidFill>
              <a:latin typeface="Arial" panose="020B0604020202090204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1A2744"/>
                </a:solidFill>
                <a:latin typeface="Arial" panose="020B0604020202090204"/>
              </a:rPr>
              <a:t>  → proper discrimination</a:t>
            </a:r>
            <a:endParaRPr sz="1200" b="0" i="0">
              <a:solidFill>
                <a:srgbClr val="1A2744"/>
              </a:solidFill>
              <a:latin typeface="Arial" panose="020B0604020202090204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4206240"/>
            <a:ext cx="11277295" cy="205740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66928" y="4315968"/>
            <a:ext cx="11057839" cy="1837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# Historical bug — last week's calculate_msd (name said 'mean' but body used 'sum'):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def calculate_msd(coords1, coords2):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    return np.sum(diff**2)            # total SD across all 112 atoms — NOT per-atom MSD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# Today's fix (generate_path_cv.py:296):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    return np.mean(np.sum(diff**2, axis=1))   # per-atom mean, matches PLUMED RMSD convention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Arial" panose="020B0604020202090204"/>
              </a:rPr>
              <a:t>Formula 2.3/⟨rmsd⟩²: PLUMED 2.9 PATHMSD docs  |  ×100 GROMACS correction: plumed-users mailing list (community knowledge)  |  Kernel weight 0.10 = exp(−2.3): Branduardi et al. 2007</a:t>
            </a:r>
            <a:endParaRPr sz="1000" b="0" i="1">
              <a:solidFill>
                <a:srgbClr val="666666"/>
              </a:solidFill>
              <a:latin typeface="Arial" panose="020B060402020209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201168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Arial" panose="020B0604020202090204"/>
              </a:rPr>
              <a:t>TrpB MetaD Benchmark  ·  7 / 10</a:t>
            </a:r>
            <a:endParaRPr sz="800" b="0" i="0">
              <a:solidFill>
                <a:srgbClr val="6B7280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Rectangle 7"/>
          <p:cNvSpPr/>
          <p:nvPr/>
        </p:nvSpPr>
        <p:spPr>
          <a:xfrm>
            <a:off x="109728" y="0"/>
            <a:ext cx="12079224" cy="100584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E5C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20040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 i="0">
                <a:solidFill>
                  <a:srgbClr val="1A2744"/>
                </a:solidFill>
                <a:latin typeface="Arial" panose="020B0604020202090204"/>
              </a:rPr>
              <a:t>Re-analysis with fixed LAMBDA shows s≈1.05 throughout — the system never left O</a:t>
            </a:r>
            <a:endParaRPr sz="2400" b="1" i="0">
              <a:solidFill>
                <a:srgbClr val="1A2744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77295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Arial" panose="020B0604020202090204"/>
              </a:rPr>
              <a:t>•  Ran plumed driver (offline, no new MD, 1.3 seconds) with SQUARED + LAMBDA=379.77</a:t>
            </a:r>
            <a:endParaRPr sz="1500" b="0" i="0">
              <a:solidFill>
                <a:srgbClr val="000000"/>
              </a:solidFill>
              <a:latin typeface="Arial" panose="020B0604020202090204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Arial" panose="020B0604020202090204"/>
              </a:rPr>
              <a:t>•  PLUMED printed “Consistency check completed! Your path cvs look good!”</a:t>
            </a:r>
            <a:endParaRPr sz="1500" b="0" i="0">
              <a:solidFill>
                <a:srgbClr val="000000"/>
              </a:solidFill>
              <a:latin typeface="Arial" panose="020B0604020202090204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Arial" panose="020B0604020202090204"/>
              </a:rPr>
              <a:t>•  New COLVAR: s = 1.04–1.06 for all 4631 frames (97.5% in O basin)</a:t>
            </a:r>
            <a:endParaRPr sz="1500" b="0" i="0">
              <a:solidFill>
                <a:srgbClr val="000000"/>
              </a:solidFill>
              <a:latin typeface="Arial" panose="020B0604020202090204"/>
            </a:endParaRP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Arial" panose="020B0604020202090204"/>
              </a:rPr>
              <a:t>•  The 46 ns of MetaD was effectively unbiased MD (CV gradient ≈ 0 → no physical force from bias)</a:t>
            </a:r>
            <a:endParaRPr sz="1500" b="0" i="0">
              <a:solidFill>
                <a:srgbClr val="000000"/>
              </a:solidFill>
              <a:latin typeface="Arial" panose="020B060402020209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4160520"/>
            <a:ext cx="11277295" cy="210312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66928" y="4270248"/>
            <a:ext cx="11057839" cy="1883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plumed driver --plumed plumed_fixed.dat --mf_xtc metad.xtc \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  --timestep 0.002 --trajectory-stride 5000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# Output: "lambda is 379.770000"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1F1F1F"/>
                </a:solidFill>
                <a:latin typeface="Courier New" panose="02070409020205090404"/>
              </a:rPr>
              <a:t># Output: "Consistency check completed! Your path cvs look good!" </a:t>
            </a:r>
            <a:endParaRPr sz="1100" b="0" i="0">
              <a:solidFill>
                <a:srgbClr val="1F1F1F"/>
              </a:solidFill>
              <a:latin typeface="Courier New" panose="020704090202050904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Arial" panose="020B0604020202090204"/>
              </a:rPr>
              <a:t>rerun/COLVAR_rerun_fixed  |  plumed driver on Longleaf single_walker/</a:t>
            </a:r>
            <a:endParaRPr sz="1000" b="0" i="1">
              <a:solidFill>
                <a:srgbClr val="666666"/>
              </a:solidFill>
              <a:latin typeface="Arial" panose="020B060402020209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201168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Arial" panose="020B0604020202090204"/>
              </a:rPr>
              <a:t>TrpB MetaD Benchmark  ·  8 / 10</a:t>
            </a:r>
            <a:endParaRPr sz="800" b="0" i="0">
              <a:solidFill>
                <a:srgbClr val="6B7280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109728" y="0"/>
            <a:ext cx="12079224" cy="100584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E5C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A2744"/>
                </a:solidFill>
                <a:latin typeface="Arial" panose="020B0604020202090204"/>
              </a:rPr>
              <a:t>PATHMSD was never the problem — last week's "non-sequential serial" attribution was a misdiagnosis</a:t>
            </a:r>
            <a:endParaRPr sz="2000" b="1">
              <a:solidFill>
                <a:srgbClr val="1A2744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455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Arial" panose="020B0604020202090204"/>
              </a:rPr>
              <a:t>•  Last week: tried PATHMSD on conda-forge PLUMED → crash → we blamed non-sequential atom serials</a:t>
            </a:r>
            <a:endParaRPr sz="1300" b="0">
              <a:solidFill>
                <a:srgbClr val="000000"/>
              </a:solidFill>
              <a:latin typeface="Arial" panose="020B0604020202090204"/>
            </a:endParaRP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Arial" panose="020B0604020202090204"/>
              </a:rPr>
              <a:t>•  Today: conda-forge PLUMED had a broken libplumedKernel.so — that's FP-020, the actual failure mode</a:t>
            </a:r>
            <a:endParaRPr sz="1300" b="0">
              <a:solidFill>
                <a:srgbClr val="000000"/>
              </a:solidFill>
              <a:latin typeface="Arial" panose="020B0604020202090204"/>
            </a:endParaRP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Arial" panose="020B0604020202090204"/>
              </a:rPr>
              <a:t>•  PLUMED 2.9 PATHMSD docs explicitly show non-sequential serial examples (1, 5, 6, 7) — our serials are fine</a:t>
            </a:r>
            <a:endParaRPr sz="1300" b="0">
              <a:solidFill>
                <a:srgbClr val="000000"/>
              </a:solidFill>
              <a:latin typeface="Arial" panose="020B0604020202090204"/>
            </a:endParaRP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DC2626"/>
                </a:solidFill>
                <a:latin typeface="Arial" panose="020B0604020202090204"/>
              </a:rPr>
              <a:t>•  Source-compiled PLUMED 2.9.2 on Longleaf: PATHMSD reads our file (serials 1614–4723) cleanly</a:t>
            </a:r>
            <a:endParaRPr sz="1300" b="0">
              <a:solidFill>
                <a:srgbClr val="DC2626"/>
              </a:solidFill>
              <a:latin typeface="Arial" panose="020B0604020202090204"/>
            </a:endParaRP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6A34A"/>
                </a:solidFill>
                <a:latin typeface="Arial" panose="020B0604020202090204"/>
              </a:rPr>
              <a:t>•  Second trap (empirical, our file + our build): trailing bare END after final ENDMDL → PATHMSD parser reads a 16th empty frame → crash</a:t>
            </a:r>
            <a:endParaRPr sz="1300" b="1">
              <a:solidFill>
                <a:srgbClr val="16A34A"/>
              </a:solidFill>
              <a:latin typeface="Arial" panose="020B0604020202090204"/>
            </a:endParaRP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Arial" panose="020B0604020202090204"/>
              </a:rPr>
              <a:t>•  PLUMED docs say END and ENDMDL are both valid separators, so this is FP-023: observed parser behavior, not an official PLUMED rule. Safe fix: strip trailing END.</a:t>
            </a:r>
            <a:endParaRPr sz="1300" b="0">
              <a:solidFill>
                <a:srgbClr val="000000"/>
              </a:solidFill>
              <a:latin typeface="Arial" panose="020B0604020202090204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4297680"/>
          <a:ext cx="112745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3200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 panose="020B0604020202090204"/>
                        </a:rPr>
                        <a:t>Metric</a:t>
                      </a:r>
                      <a:endParaRPr sz="1000" b="1">
                        <a:solidFill>
                          <a:srgbClr val="FFFFFF"/>
                        </a:solidFill>
                        <a:latin typeface="Arial" panose="020B0604020202090204"/>
                      </a:endParaRP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 panose="020B0604020202090204"/>
                        </a:rPr>
                        <a:t>FUNCPATHMSD + SQUARED (Friday fix)</a:t>
                      </a:r>
                      <a:endParaRPr sz="1000" b="1">
                        <a:solidFill>
                          <a:srgbClr val="FFFFFF"/>
                        </a:solidFill>
                        <a:latin typeface="Arial" panose="020B0604020202090204"/>
                      </a:endParaRPr>
                    </a:p>
                  </a:txBody>
                  <a:tcPr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 panose="020B0604020202090204"/>
                        </a:rPr>
                        <a:t>PATHMSD (verified today, matches SI)</a:t>
                      </a:r>
                      <a:endParaRPr sz="1000" b="1">
                        <a:solidFill>
                          <a:srgbClr val="FFFFFF"/>
                        </a:solidFill>
                        <a:latin typeface="Arial" panose="020B0604020202090204"/>
                      </a:endParaRPr>
                    </a:p>
                  </a:txBody>
                  <a:tcPr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Arial" panose="020B0604020202090204"/>
                        </a:rPr>
                        <a:t>Lines of path CV code</a:t>
                      </a:r>
                      <a:endParaRPr sz="900" b="0">
                        <a:solidFill>
                          <a:srgbClr val="000000"/>
                        </a:solidFill>
                        <a:latin typeface="Arial" panose="020B0604020202090204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Arial" panose="020B0604020202090204"/>
                        </a:rPr>
                        <a:t>17 (15 RMSD + FUNCPATHMSD + METAD)</a:t>
                      </a:r>
                      <a:endParaRPr sz="900" b="0">
                        <a:solidFill>
                          <a:srgbClr val="000000"/>
                        </a:solidFill>
                        <a:latin typeface="Arial" panose="020B0604020202090204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Arial" panose="020B0604020202090204"/>
                        </a:rPr>
                        <a:t>2 (PATHMSD + METAD)</a:t>
                      </a:r>
                      <a:endParaRPr sz="900" b="0">
                        <a:solidFill>
                          <a:srgbClr val="000000"/>
                        </a:solidFill>
                        <a:latin typeface="Arial" panose="020B0604020202090204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Arial" panose="020B0604020202090204"/>
                        </a:rPr>
                        <a:t>s(R) range on 46 ns</a:t>
                      </a:r>
                      <a:endParaRPr sz="900" b="0">
                        <a:solidFill>
                          <a:srgbClr val="000000"/>
                        </a:solidFill>
                        <a:latin typeface="Arial" panose="020B0604020202090204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Arial" panose="020B0604020202090204"/>
                        </a:rPr>
                        <a:t>[1.04, 1.06]</a:t>
                      </a:r>
                      <a:endParaRPr sz="900" b="0">
                        <a:solidFill>
                          <a:srgbClr val="000000"/>
                        </a:solidFill>
                        <a:latin typeface="Arial" panose="020B0604020202090204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Arial" panose="020B0604020202090204"/>
                        </a:rPr>
                        <a:t>[1.00, 1.70]</a:t>
                      </a:r>
                      <a:endParaRPr sz="900" b="0">
                        <a:solidFill>
                          <a:srgbClr val="000000"/>
                        </a:solidFill>
                        <a:latin typeface="Arial" panose="020B0604020202090204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Arial" panose="020B0604020202090204"/>
                        </a:rPr>
                        <a:t>NaN frames in COLVAR</a:t>
                      </a:r>
                      <a:endParaRPr sz="900" b="0">
                        <a:solidFill>
                          <a:srgbClr val="000000"/>
                        </a:solidFill>
                        <a:latin typeface="Arial" panose="020B0604020202090204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DC2626"/>
                          </a:solidFill>
                          <a:latin typeface="Arial" panose="020B0604020202090204"/>
                        </a:rPr>
                        <a:t>116 / 4631  (2.5%)</a:t>
                      </a:r>
                      <a:endParaRPr sz="900" b="1">
                        <a:solidFill>
                          <a:srgbClr val="DC2626"/>
                        </a:solidFill>
                        <a:latin typeface="Arial" panose="020B0604020202090204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6A34A"/>
                          </a:solidFill>
                          <a:latin typeface="Arial" panose="020B0604020202090204"/>
                        </a:rPr>
                        <a:t>0</a:t>
                      </a:r>
                      <a:endParaRPr sz="900" b="1">
                        <a:solidFill>
                          <a:srgbClr val="16A34A"/>
                        </a:solidFill>
                        <a:latin typeface="Arial" panose="020B0604020202090204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Arial" panose="020B0604020202090204"/>
                        </a:rPr>
                        <a:t>z(R) range</a:t>
                      </a:r>
                      <a:endParaRPr sz="900" b="0">
                        <a:solidFill>
                          <a:srgbClr val="000000"/>
                        </a:solidFill>
                        <a:latin typeface="Arial" panose="020B0604020202090204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DC2626"/>
                          </a:solidFill>
                          <a:latin typeface="Arial" panose="020B0604020202090204"/>
                        </a:rPr>
                        <a:t>1.45 – 1.92 nm² (anomalous magnitude)</a:t>
                      </a:r>
                      <a:endParaRPr sz="900" b="1">
                        <a:solidFill>
                          <a:srgbClr val="DC2626"/>
                        </a:solidFill>
                        <a:latin typeface="Arial" panose="020B0604020202090204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6A34A"/>
                          </a:solidFill>
                          <a:latin typeface="Arial" panose="020B0604020202090204"/>
                        </a:rPr>
                        <a:t>0.004 – 0.084 nm² (physical)</a:t>
                      </a:r>
                      <a:endParaRPr sz="900" b="1">
                        <a:solidFill>
                          <a:srgbClr val="16A34A"/>
                        </a:solidFill>
                        <a:latin typeface="Arial" panose="020B0604020202090204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Arial" panose="020B0604020202090204"/>
                        </a:rPr>
                        <a:t>Matches SI protocol</a:t>
                      </a:r>
                      <a:endParaRPr sz="900" b="0">
                        <a:solidFill>
                          <a:srgbClr val="000000"/>
                        </a:solidFill>
                        <a:latin typeface="Arial" panose="020B0604020202090204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Arial" panose="020B0604020202090204"/>
                        </a:rPr>
                        <a:t>No (SI used 'path CVs', not FUNCPATHMSD)</a:t>
                      </a:r>
                      <a:endParaRPr sz="900" b="0">
                        <a:solidFill>
                          <a:srgbClr val="000000"/>
                        </a:solidFill>
                        <a:latin typeface="Arial" panose="020B0604020202090204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6A34A"/>
                          </a:solidFill>
                          <a:latin typeface="Arial" panose="020B0604020202090204"/>
                        </a:rPr>
                        <a:t>Yes</a:t>
                      </a:r>
                      <a:endParaRPr sz="900" b="1">
                        <a:solidFill>
                          <a:srgbClr val="16A34A"/>
                        </a:solidFill>
                        <a:latin typeface="Arial" panose="020B0604020202090204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666666"/>
                </a:solidFill>
                <a:latin typeface="Arial" panose="020B0604020202090204"/>
              </a:rPr>
              <a:t>Longleaf: single_walker/rerun/COLVAR_pathmsd (source-compiled PLUMED 2.9.2)  |  FP-020 re-diagnosed 2026-04-09  |  FP-023 logged as empirical observation, not a PLUMED rule</a:t>
            </a:r>
            <a:endParaRPr sz="1000" i="1">
              <a:solidFill>
                <a:srgbClr val="666666"/>
              </a:solidFill>
              <a:latin typeface="Arial" panose="020B060402020209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201168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Arial" panose="020B0604020202090204"/>
              </a:rPr>
              <a:t>TrpB MetaD Benchmark  ·  9 / 10</a:t>
            </a:r>
            <a:endParaRPr sz="800" b="0" i="0">
              <a:solidFill>
                <a:srgbClr val="6B7280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109728" y="0"/>
            <a:ext cx="12079224" cy="100584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E5C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2004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A2744"/>
                </a:solidFill>
                <a:latin typeface="Arial" panose="020B0604020202090204"/>
              </a:rPr>
              <a:t>Plan: replace plumed.dat with PATHMSD, resubmit initial run, extract 10 snapshots</a:t>
            </a:r>
            <a:endParaRPr sz="2200" b="1">
              <a:solidFill>
                <a:srgbClr val="1A2744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45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6A34A"/>
                </a:solidFill>
                <a:latin typeface="Arial" panose="020B0604020202090204"/>
              </a:rPr>
              <a:t>•  Today: PATHMSD verified on existing 46 ns trajectory with plumed driver (offline, 1.3 s) ✓</a:t>
            </a:r>
            <a:endParaRPr sz="1300" b="1">
              <a:solidFill>
                <a:srgbClr val="16A34A"/>
              </a:solidFill>
              <a:latin typeface="Arial" panose="020B0604020202090204"/>
            </a:endParaRP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Arial" panose="020B0604020202090204"/>
              </a:rPr>
              <a:t>•  Today: update 6-stage pipeline state to reflect re-diagnosis of FP-020 + new plumed.dat</a:t>
            </a:r>
            <a:endParaRPr sz="1300" b="0">
              <a:solidFill>
                <a:srgbClr val="000000"/>
              </a:solidFill>
              <a:latin typeface="Arial" panose="020B0604020202090204"/>
            </a:endParaRP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Arial" panose="020B0604020202090204"/>
              </a:rPr>
              <a:t>•  Deployed today: archived Job 41514529 data, resubmitted as Job 42679152 (RUNNING on c0301, CV healthy)</a:t>
            </a:r>
            <a:endParaRPr sz="1300" b="0">
              <a:solidFill>
                <a:srgbClr val="000000"/>
              </a:solidFill>
              <a:latin typeface="Arial" panose="020B0604020202090204"/>
            </a:endParaRP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Arial" panose="020B0604020202090204"/>
              </a:rPr>
              <a:t>•  Next week: extract 10 snapshots covering O / PC / C regions from initial run trajectory</a:t>
            </a:r>
            <a:endParaRPr sz="1300" b="0">
              <a:solidFill>
                <a:srgbClr val="000000"/>
              </a:solidFill>
              <a:latin typeface="Arial" panose="020B0604020202090204"/>
            </a:endParaRP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Arial" panose="020B0604020202090204"/>
              </a:rPr>
              <a:t>•  Week after: launch 10-walker WT-MetaD production (SI protocol: 50–100 ns each, ~500 ns total)</a:t>
            </a:r>
            <a:endParaRPr sz="1300" b="0">
              <a:solidFill>
                <a:srgbClr val="000000"/>
              </a:solidFill>
              <a:latin typeface="Arial" panose="020B0604020202090204"/>
            </a:endParaRP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Arial" panose="020B0604020202090204"/>
              </a:rPr>
              <a:t>•  Target: FES comparison with JACS 2019 Figure 2a within 2 weeks</a:t>
            </a:r>
            <a:endParaRPr sz="1300" b="0">
              <a:solidFill>
                <a:srgbClr val="000000"/>
              </a:solidFill>
              <a:latin typeface="Arial" panose="020B060402020209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4663440"/>
            <a:ext cx="11274552" cy="1554480"/>
          </a:xfrm>
          <a:prstGeom prst="rect">
            <a:avLst/>
          </a:prstGeom>
          <a:solidFill>
            <a:srgbClr val="F0F0F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73152" bIns="73152" rtlCol="0" anchor="ctr"/>
          <a:lstStyle/>
          <a:p>
            <a:pPr algn="ctr"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urier New" panose="02070409020205090404"/>
              </a:rPr>
              <a:t># Final plumed.dat — SI action choice + directly reported WT-MetaD params; λ locally recalibrated, initial σ = PLUMED default</a:t>
            </a:r>
            <a:endParaRPr sz="1100">
              <a:solidFill>
                <a:srgbClr val="000000"/>
              </a:solidFill>
              <a:latin typeface="Courier New" panose="02070409020205090404"/>
            </a:endParaRP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urier New" panose="02070409020205090404"/>
              </a:rPr>
              <a:t>path: PATHMSD REFERENCE=path_gromacs.pdb LAMBDA=379.77</a:t>
            </a:r>
            <a:endParaRPr sz="1100">
              <a:solidFill>
                <a:srgbClr val="000000"/>
              </a:solidFill>
              <a:latin typeface="Courier New" panose="02070409020205090404"/>
            </a:endParaRP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urier New" panose="02070409020205090404"/>
              </a:rPr>
              <a:t>metad: METAD ARG=path.sss,path.zzz SIGMA=0.05 ADAPTIVE=GEOM HEIGHT=0.628 \</a:t>
            </a:r>
            <a:endParaRPr sz="1100">
              <a:solidFill>
                <a:srgbClr val="000000"/>
              </a:solidFill>
              <a:latin typeface="Courier New" panose="02070409020205090404"/>
            </a:endParaRP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urier New" panose="02070409020205090404"/>
              </a:rPr>
              <a:t>       PACE=1000 BIASFACTOR=10 TEMP=350 FILE=HILLS</a:t>
            </a:r>
            <a:endParaRPr sz="1100">
              <a:solidFill>
                <a:srgbClr val="000000"/>
              </a:solidFill>
              <a:latin typeface="Courier New" panose="02070409020205090404"/>
            </a:endParaRPr>
          </a:p>
          <a:p>
            <a:pPr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urier New" panose="02070409020205090404"/>
              </a:rPr>
              <a:t>PRINT ARG=path.sss,path.zzz,metad.bias FILE=COLVAR STRIDE=500</a:t>
            </a:r>
            <a:endParaRPr sz="1100">
              <a:solidFill>
                <a:srgbClr val="000000"/>
              </a:solidFill>
              <a:latin typeface="Courier New" panose="020704090202050904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666666"/>
                </a:solidFill>
                <a:latin typeface="Arial" panose="020B0604020202090204"/>
              </a:rPr>
              <a:t>Target: replication/metadynamics/single_walker/plumed.dat  |  SI match = action + reported params; λ=379.77 recalibrated from our 15 frames; σ=0.05 uses PLUMED default (SI does not report initial sigma)</a:t>
            </a:r>
            <a:endParaRPr sz="1000" i="1">
              <a:solidFill>
                <a:srgbClr val="666666"/>
              </a:solidFill>
              <a:latin typeface="Arial" panose="020B060402020209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201168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Arial" panose="020B0604020202090204"/>
              </a:rPr>
              <a:t>TrpB MetaD Benchmark  ·  10 / 10</a:t>
            </a:r>
            <a:endParaRPr sz="800" b="0" i="0">
              <a:solidFill>
                <a:srgbClr val="6B7280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7412</Words>
  <Application>WPS Presentation</Application>
  <PresentationFormat>On-screen Show (4:3)</PresentationFormat>
  <Paragraphs>235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4" baseType="lpstr">
      <vt:lpstr>Arial</vt:lpstr>
      <vt:lpstr>SimSun</vt:lpstr>
      <vt:lpstr>Wingdings</vt:lpstr>
      <vt:lpstr>Arial</vt:lpstr>
      <vt:lpstr>Courier New</vt:lpstr>
      <vt:lpstr>Calibri</vt:lpstr>
      <vt:lpstr>Helvetica Neue</vt:lpstr>
      <vt:lpstr>Microsoft YaHei</vt:lpstr>
      <vt:lpstr>汉仪旗黑</vt:lpstr>
      <vt:lpstr>Arial Unicode MS</vt:lpstr>
      <vt:lpstr>Courier New</vt:lpstr>
      <vt:lpstr>汉仪书宋二KW</vt:lpstr>
      <vt:lpstr>Apple Symbols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刘振鹏</cp:lastModifiedBy>
  <cp:revision>2</cp:revision>
  <dcterms:created xsi:type="dcterms:W3CDTF">2026-04-09T22:02:13Z</dcterms:created>
  <dcterms:modified xsi:type="dcterms:W3CDTF">2026-04-09T22:02:13Z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BB6468D1C71D5B1CE521D869D3CBB2B7_42</vt:lpwstr>
  </property>
  <property fmtid="{D5CDD505-2E9C-101B-9397-08002B2CF9AE}" pid="3" name="KSOProductBuildVer">
    <vt:lpwstr>1033-12.1.22553.22553</vt:lpwstr>
  </property>
</Properties>
</file>